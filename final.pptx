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6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70AD47">
              <a:tint val="20000"/>
            </a:srgbClr>
          </a:solidFill>
        </a:fill>
      </a:tcStyle>
    </a:wholeTbl>
    <a:band1H>
      <a:tcStyle>
        <a:tcBdr/>
        <a:fill>
          <a:solidFill>
            <a:srgbClr val="70AD47">
              <a:tint val="40000"/>
            </a:srgbClr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70AD47">
              <a:tint val="40000"/>
            </a:srgb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FFFFFF"/>
              </a:solidFill>
            </a:ln>
          </a:top>
        </a:tcBdr>
        <a:fill>
          <a:solidFill>
            <a:srgbClr val="70AD47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FFFFFF"/>
              </a:solidFill>
            </a:ln>
          </a:bottom>
        </a:tcBdr>
        <a:fill>
          <a:solidFill>
            <a:srgbClr val="70AD4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-96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9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6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0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187080" y="2972781"/>
            <a:ext cx="8130854" cy="1608711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>
                <a:solidFill>
                  <a:srgbClr val="0070C0"/>
                </a:solidFill>
                <a:latin typeface="Noto Serif Armenian"/>
                <a:ea typeface="Noto Serif CJK JP"/>
                <a:cs typeface="Noto Serif Bengali"/>
              </a:rPr>
              <a:t>Predicting Cowpea Yield with Machine Learning</a:t>
            </a:r>
            <a:endParaRPr lang="zh-CN" altLang="en-US" b="1">
              <a:solidFill>
                <a:srgbClr val="0070C0"/>
              </a:solidFill>
              <a:latin typeface="Noto Serif Armenian"/>
              <a:ea typeface="Noto Serif CJK JP"/>
              <a:cs typeface="Noto Serif Bengali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6956597" y="4800352"/>
            <a:ext cx="5039460" cy="288840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7030A0"/>
                </a:solidFill>
                <a:latin typeface="Noto Serif CJK JP"/>
                <a:ea typeface="Noto Serif CJK JP"/>
              </a:rPr>
              <a:t>Presented by</a:t>
            </a:r>
            <a:endParaRPr lang="zh-CN" altLang="en-US" b="1">
              <a:solidFill>
                <a:srgbClr val="7030A0"/>
              </a:solidFill>
              <a:latin typeface="Noto Serif CJK JP"/>
              <a:ea typeface="Noto Serif CJK JP"/>
            </a:endParaRPr>
          </a:p>
          <a:p>
            <a:pPr algn="l"/>
            <a:r>
              <a:rPr lang="en-US" altLang="en-US" dirty="0"/>
              <a:t>Aishwarya Gandhi.M ~AMB2011</a:t>
            </a:r>
            <a:endParaRPr lang="zh-CN" altLang="en-US"/>
          </a:p>
          <a:p>
            <a:pPr algn="l"/>
            <a:r>
              <a:rPr lang="en-US" altLang="en-US"/>
              <a:t>Bhoomika H R~AMB2038</a:t>
            </a:r>
            <a:endParaRPr lang="zh-CN" altLang="en-US"/>
          </a:p>
          <a:p>
            <a:pPr algn="l"/>
            <a:r>
              <a:rPr lang="en-US" altLang="en-US"/>
              <a:t>Amrutha K ~AMB2015</a:t>
            </a:r>
            <a:endParaRPr lang="zh-CN" altLang="en-US"/>
          </a:p>
          <a:p>
            <a:pPr algn="l"/>
            <a:endParaRPr lang="zh-CN" altLang="en-US"/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8" name="TextBox 5"/>
          <p:cNvSpPr txBox="1"/>
          <p:nvPr/>
        </p:nvSpPr>
        <p:spPr>
          <a:xfrm>
            <a:off x="1012280" y="491364"/>
            <a:ext cx="7293430" cy="167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 fontScale="89286" lnSpcReduction="20000"/>
          </a:bodyPr>
          <a:lstStyle/>
          <a:p>
            <a:endParaRPr lang="en-IN"/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Methodlogy/approach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References/Acknowledgements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Brief Background / Context: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Cowpea is an important legume crop widely grown for its nutritional value and ability to fix nitrogen, but its yield depends on proper nutrient management.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Problem Area: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face difficulty in determining the right amount of nitrogen fertilizer, leading to low yield or excessive input use.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Data-Driven Approaches: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analyze complex relationships between inputs and yield, enabling accurate predictions and better decision-making in farming.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 cowpea crop yield using machine learning techniques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the effect of nitrogen application and plant growth parameters on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accurate and reliable prediction models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different algorithms to identify the best-performing model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Scope limited to a small experimental dataset with selected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1167511" y="25353"/>
            <a:ext cx="10515600" cy="1325563"/>
          </a:xfrm>
        </p:spPr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 rot="21583304">
            <a:off x="837785" y="1375950"/>
            <a:ext cx="10321991" cy="5316086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is important for improving food production and farm efficiency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Helps farmers determine optimal nitrogen usage and reduce input costs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better decision-making in crop management and resource allocation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Useful in precision agriculture and smart farming practices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Contributes to research and development in agricultural machine learning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Promotes sustainable farming by reducing fertilizer overuse and environmental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429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in machine learning, data analysis, and data visualization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model training, evaluation, and performance metrics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patterns and relationships between input features and yield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accurate predictions and meaningful insights for farming decisions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to identify the best-performing model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predict cowpea crop yield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 rot="25750">
            <a:off x="283880" y="1796896"/>
            <a:ext cx="14126915" cy="4750759"/>
          </a:xfrm>
        </p:spPr>
        <p:txBody>
          <a:bodyPr>
            <a:normAutofit fontScale="92857" lnSpcReduction="20000"/>
          </a:bodyPr>
          <a:lstStyle/>
          <a:p>
            <a:pPr marL="0" indent="0">
              <a:buNone/>
            </a:pPr>
            <a:r>
              <a:rPr lang="en-US"/>
              <a:t>Dataset Source: Experimental agronomic dataset (field experiment on cowpea)</a:t>
            </a:r>
          </a:p>
          <a:p>
            <a:pPr marL="0" indent="0">
              <a:buNone/>
            </a:pPr>
            <a:r>
              <a:rPr lang="en-US"/>
              <a:t>•</a:t>
            </a:r>
            <a:r>
              <a:rPr lang="en-US" b="1">
                <a:solidFill>
                  <a:srgbClr val="000080"/>
                </a:solidFill>
              </a:rPr>
              <a:t> Number of Records and Features:</a:t>
            </a:r>
          </a:p>
          <a:p>
            <a:pPr marL="0" indent="0">
              <a:buNone/>
            </a:pPr>
            <a:r>
              <a:rPr lang="en-US"/>
              <a:t>20 samples</a:t>
            </a:r>
          </a:p>
          <a:p>
            <a:pPr marL="0" indent="0">
              <a:buNone/>
            </a:pPr>
            <a:r>
              <a:rPr lang="en-US"/>
              <a:t>3 input features + 1 target variable</a:t>
            </a:r>
          </a:p>
          <a:p>
            <a:pPr marL="0" indent="0">
              <a:buNone/>
            </a:pPr>
            <a:r>
              <a:rPr lang="en-US" b="1">
                <a:solidFill>
                  <a:srgbClr val="000080"/>
                </a:solidFill>
              </a:rPr>
              <a:t>• Types of Features:</a:t>
            </a:r>
          </a:p>
          <a:p>
            <a:pPr marL="0" indent="0">
              <a:buNone/>
            </a:pPr>
            <a:r>
              <a:rPr lang="en-US"/>
              <a:t>Numerical features (nitrogen level, plant height, leaf area, yield)</a:t>
            </a:r>
          </a:p>
          <a:p>
            <a:pPr marL="0" indent="0">
              <a:buNone/>
            </a:pPr>
            <a:r>
              <a:rPr lang="en-US"/>
              <a:t>Crop and growth-related parameters</a:t>
            </a:r>
          </a:p>
          <a:p>
            <a:pPr marL="0" indent="0">
              <a:buNone/>
            </a:pPr>
            <a:r>
              <a:rPr lang="en-US"/>
              <a:t>•</a:t>
            </a:r>
            <a:r>
              <a:rPr lang="en-US" b="1">
                <a:solidFill>
                  <a:srgbClr val="000080"/>
                </a:solidFill>
              </a:rPr>
              <a:t> Preprocessing Steps:</a:t>
            </a:r>
          </a:p>
          <a:p>
            <a:pPr marL="0" indent="0">
              <a:buNone/>
            </a:pPr>
            <a:r>
              <a:rPr lang="en-US"/>
              <a:t>Checked for missing values (none present)</a:t>
            </a:r>
          </a:p>
          <a:p>
            <a:pPr marL="0" indent="0">
              <a:buNone/>
            </a:pPr>
            <a:r>
              <a:rPr lang="en-US"/>
              <a:t>Selected relevant input features</a:t>
            </a:r>
          </a:p>
          <a:p>
            <a:pPr marL="0" indent="0">
              <a:buNone/>
            </a:pPr>
            <a:r>
              <a:rPr lang="en-US"/>
              <a:t>Removed categorical variables (treatment, replication)</a:t>
            </a:r>
          </a:p>
          <a:p>
            <a:pPr marL="0" indent="0">
              <a:buNone/>
            </a:pPr>
            <a:r>
              <a:rPr lang="en-US"/>
              <a:t>Train-test split (80% training, 20% testing)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Exploratory Data Analysis (EDA)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Model / Algorithm Selection (Linear Regression, Decision Tree, Random Forest, ANN)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 and Validation (80% training, 20% testing)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 Metrics: R² Score, MAE, RMSE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 illustrating the pipeline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→ Feature selection → 80/20 train-test split </a:t>
            </a:r>
            <a:endParaRPr lang="en-IN"/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(random_state=42) → Model training → Evaluation with R², MAE, RMSE.</a:t>
            </a: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209715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7622" y="0"/>
            <a:ext cx="109852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521772" y="1963853"/>
            <a:ext cx="10515600" cy="4351338"/>
          </a:xfrm>
        </p:spPr>
        <p:txBody>
          <a:bodyPr>
            <a:normAutofit fontScale="92857" lnSpcReduction="20000"/>
          </a:bodyPr>
          <a:lstStyle/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lang="en-IN" b="1">
              <a:solidFill>
                <a:srgbClr val="000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Environment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/>
              <a:t>Model performance was evaluated using R² Score, MAE, and RMSE</a:t>
            </a:r>
          </a:p>
          <a:p>
            <a:r>
              <a:rPr lang="en-US" b="1">
                <a:solidFill>
                  <a:srgbClr val="008000"/>
                </a:solidFill>
              </a:rPr>
              <a:t>Random forest </a:t>
            </a:r>
            <a:r>
              <a:rPr lang="it-IT"/>
              <a:t>achieved the best performance</a:t>
            </a:r>
            <a:endParaRPr lang="zh-CN" altLang="en-US"/>
          </a:p>
          <a:p>
            <a:r>
              <a:rPr lang="it-IT"/>
              <a:t>R² Score = 0.9931</a:t>
            </a:r>
          </a:p>
          <a:p>
            <a:r>
              <a:rPr lang="it-IT"/>
              <a:t>MAE = 18.54 kg/ha</a:t>
            </a:r>
          </a:p>
          <a:p>
            <a:r>
              <a:rPr lang="it-IT"/>
              <a:t>RMSE = 19.48 kg/ha</a:t>
            </a:r>
          </a:p>
          <a:p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Box 1048615"/>
          <p:cNvSpPr txBox="1"/>
          <p:nvPr/>
        </p:nvSpPr>
        <p:spPr>
          <a:xfrm>
            <a:off x="441777" y="728587"/>
            <a:ext cx="10950195" cy="302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/>
              <a:t>Decision tree </a:t>
            </a:r>
            <a:r>
              <a:rPr lang="it-IT" sz="2800"/>
              <a:t>also performed well with high accuracy and better generalization</a:t>
            </a:r>
            <a:endParaRPr lang="zh-CN" altLang="en-US"/>
          </a:p>
          <a:p>
            <a:r>
              <a:rPr lang="it-IT" sz="2800"/>
              <a:t>R² Score = 0.9898</a:t>
            </a:r>
          </a:p>
          <a:p>
            <a:r>
              <a:rPr lang="it-IT" sz="2800"/>
              <a:t>• Linear Regression showed good prediction accuracy but could not capture non-linear trends</a:t>
            </a:r>
          </a:p>
          <a:p>
            <a:r>
              <a:rPr lang="it-IT" sz="2800"/>
              <a:t>• ANN gave poor performance due to small dataset size and lack of normalization</a:t>
            </a:r>
            <a:endParaRPr 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09715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99446" y="0"/>
            <a:ext cx="6533898" cy="4840183"/>
          </a:xfrm>
          <a:prstGeom prst="rect">
            <a:avLst/>
          </a:prstGeom>
        </p:spPr>
      </p:pic>
      <p:sp>
        <p:nvSpPr>
          <p:cNvPr id="1048678" name="TextBox 1048677"/>
          <p:cNvSpPr txBox="1"/>
          <p:nvPr/>
        </p:nvSpPr>
        <p:spPr>
          <a:xfrm rot="21584794">
            <a:off x="373299" y="4955776"/>
            <a:ext cx="11075609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Fig.2 MAE Comparison Bar Chart — Compares Mean Absolute Error across all four models. </a:t>
            </a:r>
          </a:p>
          <a:p>
            <a:r>
              <a:rPr lang="en-US" sz="2800">
                <a:solidFill>
                  <a:srgbClr val="000000"/>
                </a:solidFill>
              </a:rPr>
              <a:t>Random Forest and Decision Tree bars are shortest (MAE=9.71), while ANN bar is tallest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09715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13219" y="173797"/>
            <a:ext cx="8726775" cy="4298810"/>
          </a:xfrm>
          <a:prstGeom prst="rect">
            <a:avLst/>
          </a:prstGeom>
        </p:spPr>
      </p:pic>
      <p:sp>
        <p:nvSpPr>
          <p:cNvPr id="1048679" name="TextBox 1048678"/>
          <p:cNvSpPr txBox="1"/>
          <p:nvPr/>
        </p:nvSpPr>
        <p:spPr>
          <a:xfrm>
            <a:off x="573031" y="5090159"/>
            <a:ext cx="10343646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Fig..3 R² Score Comparison Bar Chart — All models except ANN exceed R²=0.99, with RF scoring highest at 0.9953. ANN's negative R² confirms it performs worse than a simple mean </a:t>
            </a:r>
          </a:p>
          <a:p>
            <a:r>
              <a:rPr lang="en-US" sz="2800">
                <a:solidFill>
                  <a:srgbClr val="000000"/>
                </a:solidFill>
              </a:rPr>
              <a:t>predictor on this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09715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5043" y="1314419"/>
            <a:ext cx="11661914" cy="42291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09715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1697" y="277295"/>
            <a:ext cx="10048605" cy="4898115"/>
          </a:xfrm>
          <a:prstGeom prst="rect">
            <a:avLst/>
          </a:prstGeom>
        </p:spPr>
      </p:pic>
      <p:sp>
        <p:nvSpPr>
          <p:cNvPr id="1048682" name="TextBox 1048681"/>
          <p:cNvSpPr txBox="1"/>
          <p:nvPr/>
        </p:nvSpPr>
        <p:spPr>
          <a:xfrm>
            <a:off x="1996389" y="5509259"/>
            <a:ext cx="7976227" cy="5105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 4:Random Forest:n_estimatores vs R2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extBox 1048616"/>
          <p:cNvSpPr txBox="1"/>
          <p:nvPr/>
        </p:nvSpPr>
        <p:spPr>
          <a:xfrm>
            <a:off x="379130" y="929992"/>
            <a:ext cx="11076830" cy="26060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Visualizations Used:</a:t>
            </a:r>
            <a:r>
              <a:rPr lang="en-US" sz="2800">
                <a:solidFill>
                  <a:srgbClr val="000000"/>
                </a:solidFill>
              </a:rPr>
              <a:t>
R² comparison bar graph
MAE and RMSE comparison graph
Actual vs Predicted Yield plots
Nitrogen vs Yield curve
Decision Tree structure and feature importance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Box 1048617"/>
          <p:cNvSpPr txBox="1"/>
          <p:nvPr/>
        </p:nvSpPr>
        <p:spPr>
          <a:xfrm rot="21597272">
            <a:off x="183411" y="694017"/>
            <a:ext cx="11042293" cy="302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Observations</a:t>
            </a:r>
            <a:r>
              <a:rPr lang="en-US" sz="2800">
                <a:solidFill>
                  <a:srgbClr val="000000"/>
                </a:solidFill>
              </a:rPr>
              <a:t>:
Nitrogen level and leaf area are the most important factors affecting yield
Yield increased with nitrogen up to 60 kg/ha and decreased at 80 kg/ha
Tree-based models captured the non-linear relationship more effectively than ANN and Linear Regression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Nitrogen application and leaf area are the most influential factors affecting cowpea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Yield increases up to an optimal nitrogen level (60 kg/ha) and then declines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Tree-based models (Decision Tree, Random Forest) perform best for this dataset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extBox 1048620"/>
          <p:cNvSpPr txBox="1"/>
          <p:nvPr/>
        </p:nvSpPr>
        <p:spPr>
          <a:xfrm rot="21581044">
            <a:off x="813328" y="528496"/>
            <a:ext cx="10112815" cy="428244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Challenges Faced:</a:t>
            </a:r>
            <a:r>
              <a:rPr lang="en-US" sz="2800">
                <a:solidFill>
                  <a:srgbClr val="000000"/>
                </a:solidFill>
              </a:rPr>
              <a:t>
Small dataset size (only 20 samples)
Limited features considered for prediction
ANN model did not converge properly
Lack of feature scaling and hyperparameter tuning
• </a:t>
            </a:r>
            <a:r>
              <a:rPr lang="en-US" sz="2800" b="1">
                <a:solidFill>
                  <a:srgbClr val="000080"/>
                </a:solidFill>
              </a:rPr>
              <a:t>Limitations</a:t>
            </a:r>
            <a:r>
              <a:rPr lang="en-US" sz="2800">
                <a:solidFill>
                  <a:srgbClr val="000000"/>
                </a:solidFill>
              </a:rPr>
              <a:t>:
Dataset does not include factors like soil type, climate, irrigation, pests
No cross-validation due to limited data
Results may not generalize to larger or real-world datasets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extBox 1048621"/>
          <p:cNvSpPr txBox="1"/>
          <p:nvPr/>
        </p:nvSpPr>
        <p:spPr>
          <a:xfrm rot="15983">
            <a:off x="281426" y="832244"/>
            <a:ext cx="10288036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Impact on Agriculture:
</a:t>
            </a:r>
            <a:r>
              <a:rPr lang="en-US" sz="2800">
                <a:solidFill>
                  <a:srgbClr val="000000"/>
                </a:solidFill>
              </a:rPr>
              <a:t>Helps farmers optimize nitrogen usage for better yield
Supports data-driven decision-making in farming
Useful for precision agriculture and sustainable farming practices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were successfully used to predict cowpea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Random Forest showed highest accuracy and reliability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Optimal nitrogen level identified as 60 kg/ha for maximum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Leaf area and nitrogen are key factors influencing yield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extBox 1048624"/>
          <p:cNvSpPr txBox="1"/>
          <p:nvPr/>
        </p:nvSpPr>
        <p:spPr>
          <a:xfrm>
            <a:off x="367617" y="901365"/>
            <a:ext cx="10696899" cy="4282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more diverse datasets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(multi-location, multi-season)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like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type, weather, and irrigation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models (Deep Learning, ensemble techniques)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systems for farmers</a:t>
            </a:r>
            <a:endParaRPr lang="en-US" sz="2800">
              <a:solidFill>
                <a:srgbClr val="000000"/>
              </a:solidFill>
            </a:endParaRPr>
          </a:p>
          <a:p>
            <a:endParaRPr lang="en-US" sz="2800">
              <a:solidFill>
                <a:srgbClr val="000000"/>
              </a:solidFill>
            </a:endParaRPr>
          </a:p>
          <a:p>
            <a:r>
              <a:rPr lang="en-US" sz="2800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</a:t>
            </a: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solidFill>
                <a:srgbClr val="000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fertilizer usage</a:t>
            </a:r>
            <a:endParaRPr lang="en-US" sz="2800" b="1">
              <a:solidFill>
                <a:srgbClr val="008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and smart farming</a:t>
            </a:r>
            <a:endParaRPr lang="en-US" sz="2800" b="1">
              <a:solidFill>
                <a:srgbClr val="008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yield prediction and decision-making</a:t>
            </a:r>
            <a:endParaRPr lang="en-US" sz="2800" b="1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  <a:endParaRPr lang="en-IN" b="1">
              <a:solidFill>
                <a:srgbClr val="33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4" name="TextBox 1048683"/>
          <p:cNvSpPr txBox="1"/>
          <p:nvPr/>
        </p:nvSpPr>
        <p:spPr>
          <a:xfrm>
            <a:off x="538393" y="1690688"/>
            <a:ext cx="10354349" cy="21869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[1] Dharavath, R., Sharma, V., &amp; Pandey, M. (2024). Multi-crop yield prediction using ensemble 
machine learning: A comparative study of Random Forest and XGBoost. Computers and 
Electronics in Agriculture, 217, 108620</a:t>
            </a:r>
          </a:p>
        </p:txBody>
      </p:sp>
      <p:sp>
        <p:nvSpPr>
          <p:cNvPr id="1048685" name="TextBox 1048684"/>
          <p:cNvSpPr txBox="1"/>
          <p:nvPr/>
        </p:nvSpPr>
        <p:spPr>
          <a:xfrm>
            <a:off x="538392" y="3877628"/>
            <a:ext cx="11077157" cy="21869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[2]Patel, N., Gupta, S., &amp; Verma, A. (2025). Hybrid LSTM and Random Forest approach for 
legume yield prediction using IoT sensor data. Agricultural Systems, 221, 104012.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Office PowerPoint</Application>
  <PresentationFormat>Custom</PresentationFormat>
  <Paragraphs>124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Predicting Cowpea Yield with Machine Learning</vt:lpstr>
      <vt:lpstr>Content</vt:lpstr>
      <vt:lpstr>Introduction</vt:lpstr>
      <vt:lpstr>Problem Statement</vt:lpstr>
      <vt:lpstr>Motivation</vt:lpstr>
      <vt:lpstr>Objectives of the Project</vt:lpstr>
      <vt:lpstr>Dataset Overview</vt:lpstr>
      <vt:lpstr>Methodology / Approach</vt:lpstr>
      <vt:lpstr>Slide 9</vt:lpstr>
      <vt:lpstr>Tools and Technologies Used</vt:lpstr>
      <vt:lpstr>Results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Discussion / Analysis</vt:lpstr>
      <vt:lpstr>Slide 20</vt:lpstr>
      <vt:lpstr>Slide 21</vt:lpstr>
      <vt:lpstr>Conclusion and Future Work</vt:lpstr>
      <vt:lpstr>Slide 23</vt:lpstr>
      <vt:lpstr>References / 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Cowpea Yield with Machine Learning</dc:title>
  <dc:creator>PRABHURAJ METIPATIL</dc:creator>
  <cp:lastModifiedBy>CSL--03</cp:lastModifiedBy>
  <cp:revision>1</cp:revision>
  <dcterms:created xsi:type="dcterms:W3CDTF">2026-04-04T22:30:05Z</dcterms:created>
  <dcterms:modified xsi:type="dcterms:W3CDTF">2026-04-16T03:47:24Z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b1c1884e7cfd46a6807a20d2e5859990</vt:lpwstr>
  </property>
</Properties>
</file>